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FUNDAMENTALS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Commands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 ·  DML  ·  TCL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categories of SQL statements, the commands inside each, and query examples for every command.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141B4D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450799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4507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448970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434340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141B4D"/>
          </a:solidFill>
          <a:ln w="15875">
            <a:solidFill>
              <a:srgbClr val="17B8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36392" y="4507992"/>
            <a:ext cx="502920" cy="502920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15" name="Text 13"/>
          <p:cNvSpPr/>
          <p:nvPr/>
        </p:nvSpPr>
        <p:spPr>
          <a:xfrm>
            <a:off x="3136392" y="4507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49040" y="448970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434340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141B4D"/>
          </a:solidFill>
          <a:ln w="15875">
            <a:solidFill>
              <a:srgbClr val="F966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85232" y="4507992"/>
            <a:ext cx="502920" cy="502920"/>
          </a:xfrm>
          <a:prstGeom prst="ellipse">
            <a:avLst/>
          </a:prstGeom>
          <a:solidFill>
            <a:srgbClr val="F9665E"/>
          </a:solidFill>
          <a:ln/>
        </p:spPr>
      </p:sp>
      <p:sp>
        <p:nvSpPr>
          <p:cNvPr id="20" name="Text 18"/>
          <p:cNvSpPr/>
          <p:nvPr/>
        </p:nvSpPr>
        <p:spPr>
          <a:xfrm>
            <a:off x="5285232" y="4507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897880" y="448970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9788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Commands Overview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Categories of SQL Commands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SQL statement falls into one of these functional groups.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AA5C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520440" cy="128016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84248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842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1640" y="19842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2313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89864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and modifies the structure of database objects — tables, schemas, indexes.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931920"/>
            <a:ext cx="288036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0507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441655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30682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76402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46542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511149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50017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545896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078992" y="53492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5806440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56967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25112" y="160020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AA5C9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25112" y="1600200"/>
            <a:ext cx="3520440" cy="128016"/>
          </a:xfrm>
          <a:prstGeom prst="roundRect">
            <a:avLst/>
          </a:prstGeom>
          <a:solidFill>
            <a:srgbClr val="17B890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5152" y="1984248"/>
            <a:ext cx="685800" cy="685800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19842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468112" y="19842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68112" y="2313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Language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45152" y="289864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the data stored inside tables — reading, adding, changing, removing rows.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45152" y="3931920"/>
            <a:ext cx="288036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40507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45152" y="4416552"/>
            <a:ext cx="82296" cy="82296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33" name="Text 31"/>
          <p:cNvSpPr/>
          <p:nvPr/>
        </p:nvSpPr>
        <p:spPr>
          <a:xfrm>
            <a:off x="4855464" y="430682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645152" y="4764024"/>
            <a:ext cx="82296" cy="82296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35" name="Text 33"/>
          <p:cNvSpPr/>
          <p:nvPr/>
        </p:nvSpPr>
        <p:spPr>
          <a:xfrm>
            <a:off x="4855464" y="46542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645152" y="5111496"/>
            <a:ext cx="82296" cy="82296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37" name="Text 35"/>
          <p:cNvSpPr/>
          <p:nvPr/>
        </p:nvSpPr>
        <p:spPr>
          <a:xfrm>
            <a:off x="4855464" y="50017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645152" y="5458968"/>
            <a:ext cx="82296" cy="82296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39" name="Text 37"/>
          <p:cNvSpPr/>
          <p:nvPr/>
        </p:nvSpPr>
        <p:spPr>
          <a:xfrm>
            <a:off x="4855464" y="53492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101584" y="160020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AA5C9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01584" y="1600200"/>
            <a:ext cx="3520440" cy="128016"/>
          </a:xfrm>
          <a:prstGeom prst="roundRect">
            <a:avLst/>
          </a:prstGeom>
          <a:solidFill>
            <a:srgbClr val="F9665E"/>
          </a:solidFill>
          <a:ln/>
        </p:spPr>
      </p:sp>
      <p:sp>
        <p:nvSpPr>
          <p:cNvPr id="42" name="Shape 40"/>
          <p:cNvSpPr/>
          <p:nvPr/>
        </p:nvSpPr>
        <p:spPr>
          <a:xfrm>
            <a:off x="8421624" y="1984248"/>
            <a:ext cx="685800" cy="685800"/>
          </a:xfrm>
          <a:prstGeom prst="ellipse">
            <a:avLst/>
          </a:prstGeom>
          <a:solidFill>
            <a:srgbClr val="F9665E"/>
          </a:solidFill>
          <a:ln/>
        </p:spPr>
      </p:sp>
      <p:sp>
        <p:nvSpPr>
          <p:cNvPr id="43" name="Text 41"/>
          <p:cNvSpPr/>
          <p:nvPr/>
        </p:nvSpPr>
        <p:spPr>
          <a:xfrm>
            <a:off x="8421624" y="19842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9244584" y="19842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244584" y="2313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 Language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421624" y="2898648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transactions so a group of DML changes can be made permanent or undone.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421624" y="3931920"/>
            <a:ext cx="288036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21624" y="40507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9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421624" y="4416552"/>
            <a:ext cx="82296" cy="82296"/>
          </a:xfrm>
          <a:prstGeom prst="ellipse">
            <a:avLst/>
          </a:prstGeom>
          <a:solidFill>
            <a:srgbClr val="F9665E"/>
          </a:solidFill>
          <a:ln/>
        </p:spPr>
      </p:sp>
      <p:sp>
        <p:nvSpPr>
          <p:cNvPr id="50" name="Text 48"/>
          <p:cNvSpPr/>
          <p:nvPr/>
        </p:nvSpPr>
        <p:spPr>
          <a:xfrm>
            <a:off x="8631936" y="430682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8421624" y="4764024"/>
            <a:ext cx="82296" cy="82296"/>
          </a:xfrm>
          <a:prstGeom prst="ellipse">
            <a:avLst/>
          </a:prstGeom>
          <a:solidFill>
            <a:srgbClr val="F9665E"/>
          </a:solidFill>
          <a:ln/>
        </p:spPr>
      </p:sp>
      <p:sp>
        <p:nvSpPr>
          <p:cNvPr id="52" name="Text 50"/>
          <p:cNvSpPr/>
          <p:nvPr/>
        </p:nvSpPr>
        <p:spPr>
          <a:xfrm>
            <a:off x="8631936" y="46542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8421624" y="5111496"/>
            <a:ext cx="82296" cy="82296"/>
          </a:xfrm>
          <a:prstGeom prst="ellipse">
            <a:avLst/>
          </a:prstGeom>
          <a:solidFill>
            <a:srgbClr val="F9665E"/>
          </a:solidFill>
          <a:ln/>
        </p:spPr>
      </p:sp>
      <p:sp>
        <p:nvSpPr>
          <p:cNvPr id="54" name="Text 52"/>
          <p:cNvSpPr/>
          <p:nvPr/>
        </p:nvSpPr>
        <p:spPr>
          <a:xfrm>
            <a:off x="8631936" y="50017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SAVEPOINT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8421624" y="5458968"/>
            <a:ext cx="82296" cy="82296"/>
          </a:xfrm>
          <a:prstGeom prst="ellipse">
            <a:avLst/>
          </a:prstGeom>
          <a:solidFill>
            <a:srgbClr val="F9665E"/>
          </a:solidFill>
          <a:ln/>
        </p:spPr>
      </p:sp>
      <p:sp>
        <p:nvSpPr>
          <p:cNvPr id="56" name="Text 54"/>
          <p:cNvSpPr/>
          <p:nvPr/>
        </p:nvSpPr>
        <p:spPr>
          <a:xfrm>
            <a:off x="8631936" y="53492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TRANSACTION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Commands Overview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47472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474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— Data Definition Language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that define or change the structure of database objects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8308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97480" y="1783080"/>
            <a:ext cx="8549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new database object — table, view, index, schema.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69748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9748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2697480"/>
            <a:ext cx="8549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structure of an existing object (add/drop/modify columns).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61188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1188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97480" y="3611880"/>
            <a:ext cx="8549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deletes an object and its data from the database.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52628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2628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97480" y="4526280"/>
            <a:ext cx="8549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all rows from a table instantly, keeping the table structure.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544068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2A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44068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697480" y="5440680"/>
            <a:ext cx="8549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name of an existing database object.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— Data Definition Language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— Example Queries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statement for each DDL command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01600" dist="38100" dir="5400000">
              <a:srgbClr val="0A0E2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63624"/>
            <a:ext cx="109728" cy="109728"/>
          </a:xfrm>
          <a:prstGeom prst="ellipse">
            <a:avLst/>
          </a:prstGeom>
          <a:solidFill>
            <a:srgbClr val="F2665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563624"/>
            <a:ext cx="109728" cy="109728"/>
          </a:xfrm>
          <a:prstGeom prst="ellipse">
            <a:avLst/>
          </a:prstGeom>
          <a:solidFill>
            <a:srgbClr val="F2C24B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563624"/>
            <a:ext cx="109728" cy="109728"/>
          </a:xfrm>
          <a:prstGeom prst="ellipse">
            <a:avLst/>
          </a:prstGeom>
          <a:solidFill>
            <a:srgbClr val="3EC96E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52704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1801368"/>
            <a:ext cx="5111496" cy="0"/>
          </a:xfrm>
          <a:prstGeom prst="line">
            <a:avLst/>
          </a:prstGeom>
          <a:noFill/>
          <a:ln w="12700">
            <a:solidFill>
              <a:srgbClr val="2A31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929384"/>
            <a:ext cx="498348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(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 PRIMARY KEY,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VARCHAR(50),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 INT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417320"/>
            <a:ext cx="54864" cy="233172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41732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01600" dist="38100" dir="5400000">
              <a:srgbClr val="0A0E2A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73952" y="1563624"/>
            <a:ext cx="109728" cy="109728"/>
          </a:xfrm>
          <a:prstGeom prst="ellipse">
            <a:avLst/>
          </a:prstGeom>
          <a:solidFill>
            <a:srgbClr val="F2665E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1563624"/>
            <a:ext cx="109728" cy="109728"/>
          </a:xfrm>
          <a:prstGeom prst="ellipse">
            <a:avLst/>
          </a:prstGeom>
          <a:solidFill>
            <a:srgbClr val="F2C24B"/>
          </a:solidFill>
          <a:ln/>
        </p:spPr>
      </p:sp>
      <p:sp>
        <p:nvSpPr>
          <p:cNvPr id="15" name="Shape 13"/>
          <p:cNvSpPr/>
          <p:nvPr/>
        </p:nvSpPr>
        <p:spPr>
          <a:xfrm>
            <a:off x="6876288" y="1563624"/>
            <a:ext cx="109728" cy="109728"/>
          </a:xfrm>
          <a:prstGeom prst="ellipse">
            <a:avLst/>
          </a:prstGeom>
          <a:solidFill>
            <a:srgbClr val="3EC96E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52704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73952" y="1801368"/>
            <a:ext cx="5111496" cy="0"/>
          </a:xfrm>
          <a:prstGeom prst="line">
            <a:avLst/>
          </a:prstGeom>
          <a:noFill/>
          <a:ln w="12700">
            <a:solidFill>
              <a:srgbClr val="2A31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1929384"/>
            <a:ext cx="498348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VARCHAR(100);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A8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adds a new column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1417320"/>
            <a:ext cx="54864" cy="233172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06908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01600" dist="38100" dir="5400000">
              <a:srgbClr val="0A0E2A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215384"/>
            <a:ext cx="109728" cy="109728"/>
          </a:xfrm>
          <a:prstGeom prst="ellipse">
            <a:avLst/>
          </a:prstGeom>
          <a:solidFill>
            <a:srgbClr val="F2665E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4215384"/>
            <a:ext cx="109728" cy="109728"/>
          </a:xfrm>
          <a:prstGeom prst="ellipse">
            <a:avLst/>
          </a:prstGeom>
          <a:solidFill>
            <a:srgbClr val="F2C24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15568" y="4215384"/>
            <a:ext cx="109728" cy="109728"/>
          </a:xfrm>
          <a:prstGeom prst="ellipse">
            <a:avLst/>
          </a:prstGeom>
          <a:solidFill>
            <a:srgbClr val="3EC96E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417880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3232" y="4453128"/>
            <a:ext cx="5111496" cy="0"/>
          </a:xfrm>
          <a:prstGeom prst="line">
            <a:avLst/>
          </a:prstGeom>
          <a:noFill/>
          <a:ln w="12700">
            <a:solidFill>
              <a:srgbClr val="2A3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581144"/>
            <a:ext cx="498348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students;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A8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deletes table + all data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069080"/>
            <a:ext cx="54864" cy="233172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28" name="Shape 26"/>
          <p:cNvSpPr/>
          <p:nvPr/>
        </p:nvSpPr>
        <p:spPr>
          <a:xfrm>
            <a:off x="6309360" y="406908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01600" dist="38100" dir="5400000">
              <a:srgbClr val="0A0E2A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73952" y="4215384"/>
            <a:ext cx="109728" cy="109728"/>
          </a:xfrm>
          <a:prstGeom prst="ellipse">
            <a:avLst/>
          </a:prstGeom>
          <a:solidFill>
            <a:srgbClr val="F2665E"/>
          </a:solidFill>
          <a:ln/>
        </p:spPr>
      </p:sp>
      <p:sp>
        <p:nvSpPr>
          <p:cNvPr id="30" name="Shape 28"/>
          <p:cNvSpPr/>
          <p:nvPr/>
        </p:nvSpPr>
        <p:spPr>
          <a:xfrm>
            <a:off x="6675120" y="4215384"/>
            <a:ext cx="109728" cy="109728"/>
          </a:xfrm>
          <a:prstGeom prst="ellipse">
            <a:avLst/>
          </a:prstGeom>
          <a:solidFill>
            <a:srgbClr val="F2C24B"/>
          </a:solidFill>
          <a:ln/>
        </p:spPr>
      </p:sp>
      <p:sp>
        <p:nvSpPr>
          <p:cNvPr id="31" name="Shape 29"/>
          <p:cNvSpPr/>
          <p:nvPr/>
        </p:nvSpPr>
        <p:spPr>
          <a:xfrm>
            <a:off x="6876288" y="4215384"/>
            <a:ext cx="109728" cy="109728"/>
          </a:xfrm>
          <a:prstGeom prst="ellipse">
            <a:avLst/>
          </a:prstGeom>
          <a:solidFill>
            <a:srgbClr val="3EC96E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417880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  /  RENAME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73952" y="4453128"/>
            <a:ext cx="5111496" cy="0"/>
          </a:xfrm>
          <a:prstGeom prst="line">
            <a:avLst/>
          </a:prstGeom>
          <a:noFill/>
          <a:ln w="12700">
            <a:solidFill>
              <a:srgbClr val="2A31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4581144"/>
            <a:ext cx="498348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 TABLE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students;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 TABLE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learners;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09360" y="4069080"/>
            <a:ext cx="54864" cy="233172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— Data Definition Language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47472"/>
            <a:ext cx="685800" cy="685800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474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 — Data Manipulation Language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that read and modify the data stored inside tables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830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7B8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97480" y="1783080"/>
            <a:ext cx="8549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rows and columns of data from one or more tables.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346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7B8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346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2834640"/>
            <a:ext cx="8549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one or more new rows of data into a table.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8862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7B8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862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97480" y="3886200"/>
            <a:ext cx="8549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the values of existing rows that match a condition.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9377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7B8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937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97480" y="4937760"/>
            <a:ext cx="8549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rows that match a condition, one at a time (loggable, undoable).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— Data Manipulation Language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 — Example Queries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statement for each DML command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01600" dist="38100" dir="5400000">
              <a:srgbClr val="0A0E2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63624"/>
            <a:ext cx="109728" cy="109728"/>
          </a:xfrm>
          <a:prstGeom prst="ellipse">
            <a:avLst/>
          </a:prstGeom>
          <a:solidFill>
            <a:srgbClr val="F2665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563624"/>
            <a:ext cx="109728" cy="109728"/>
          </a:xfrm>
          <a:prstGeom prst="ellipse">
            <a:avLst/>
          </a:prstGeom>
          <a:solidFill>
            <a:srgbClr val="F2C24B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563624"/>
            <a:ext cx="109728" cy="109728"/>
          </a:xfrm>
          <a:prstGeom prst="ellipse">
            <a:avLst/>
          </a:prstGeom>
          <a:solidFill>
            <a:srgbClr val="3EC96E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52704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1801368"/>
            <a:ext cx="5111496" cy="0"/>
          </a:xfrm>
          <a:prstGeom prst="line">
            <a:avLst/>
          </a:prstGeom>
          <a:noFill/>
          <a:ln w="12700">
            <a:solidFill>
              <a:srgbClr val="2A31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929384"/>
            <a:ext cx="498348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age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&gt; 18;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417320"/>
            <a:ext cx="54864" cy="2331720"/>
          </a:xfrm>
          <a:prstGeom prst="roundRect">
            <a:avLst/>
          </a:prstGeom>
          <a:solidFill>
            <a:srgbClr val="17B890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41732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01600" dist="38100" dir="5400000">
              <a:srgbClr val="0A0E2A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73952" y="1563624"/>
            <a:ext cx="109728" cy="109728"/>
          </a:xfrm>
          <a:prstGeom prst="ellipse">
            <a:avLst/>
          </a:prstGeom>
          <a:solidFill>
            <a:srgbClr val="F2665E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1563624"/>
            <a:ext cx="109728" cy="109728"/>
          </a:xfrm>
          <a:prstGeom prst="ellipse">
            <a:avLst/>
          </a:prstGeom>
          <a:solidFill>
            <a:srgbClr val="F2C24B"/>
          </a:solidFill>
          <a:ln/>
        </p:spPr>
      </p:sp>
      <p:sp>
        <p:nvSpPr>
          <p:cNvPr id="15" name="Shape 13"/>
          <p:cNvSpPr/>
          <p:nvPr/>
        </p:nvSpPr>
        <p:spPr>
          <a:xfrm>
            <a:off x="6876288" y="1563624"/>
            <a:ext cx="109728" cy="109728"/>
          </a:xfrm>
          <a:prstGeom prst="ellipse">
            <a:avLst/>
          </a:prstGeom>
          <a:solidFill>
            <a:srgbClr val="3EC96E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52704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73952" y="1801368"/>
            <a:ext cx="5111496" cy="0"/>
          </a:xfrm>
          <a:prstGeom prst="line">
            <a:avLst/>
          </a:prstGeom>
          <a:noFill/>
          <a:ln w="12700">
            <a:solidFill>
              <a:srgbClr val="2A31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1929384"/>
            <a:ext cx="498348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(id, name, age)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F2C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'Asha', 20);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1417320"/>
            <a:ext cx="54864" cy="2331720"/>
          </a:xfrm>
          <a:prstGeom prst="roundRect">
            <a:avLst/>
          </a:prstGeom>
          <a:solidFill>
            <a:srgbClr val="17B890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06908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01600" dist="38100" dir="5400000">
              <a:srgbClr val="0A0E2A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215384"/>
            <a:ext cx="109728" cy="109728"/>
          </a:xfrm>
          <a:prstGeom prst="ellipse">
            <a:avLst/>
          </a:prstGeom>
          <a:solidFill>
            <a:srgbClr val="F2665E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4215384"/>
            <a:ext cx="109728" cy="109728"/>
          </a:xfrm>
          <a:prstGeom prst="ellipse">
            <a:avLst/>
          </a:prstGeom>
          <a:solidFill>
            <a:srgbClr val="F2C24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15568" y="4215384"/>
            <a:ext cx="109728" cy="109728"/>
          </a:xfrm>
          <a:prstGeom prst="ellipse">
            <a:avLst/>
          </a:prstGeom>
          <a:solidFill>
            <a:srgbClr val="3EC96E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417880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3232" y="4453128"/>
            <a:ext cx="5111496" cy="0"/>
          </a:xfrm>
          <a:prstGeom prst="line">
            <a:avLst/>
          </a:prstGeom>
          <a:noFill/>
          <a:ln w="12700">
            <a:solidFill>
              <a:srgbClr val="2A3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581144"/>
            <a:ext cx="498348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21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= 1;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069080"/>
            <a:ext cx="54864" cy="2331720"/>
          </a:xfrm>
          <a:prstGeom prst="roundRect">
            <a:avLst/>
          </a:prstGeom>
          <a:solidFill>
            <a:srgbClr val="17B890"/>
          </a:solidFill>
          <a:ln/>
        </p:spPr>
      </p:sp>
      <p:sp>
        <p:nvSpPr>
          <p:cNvPr id="28" name="Shape 26"/>
          <p:cNvSpPr/>
          <p:nvPr/>
        </p:nvSpPr>
        <p:spPr>
          <a:xfrm>
            <a:off x="6309360" y="406908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01600" dist="38100" dir="5400000">
              <a:srgbClr val="0A0E2A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73952" y="4215384"/>
            <a:ext cx="109728" cy="109728"/>
          </a:xfrm>
          <a:prstGeom prst="ellipse">
            <a:avLst/>
          </a:prstGeom>
          <a:solidFill>
            <a:srgbClr val="F2665E"/>
          </a:solidFill>
          <a:ln/>
        </p:spPr>
      </p:sp>
      <p:sp>
        <p:nvSpPr>
          <p:cNvPr id="30" name="Shape 28"/>
          <p:cNvSpPr/>
          <p:nvPr/>
        </p:nvSpPr>
        <p:spPr>
          <a:xfrm>
            <a:off x="6675120" y="4215384"/>
            <a:ext cx="109728" cy="109728"/>
          </a:xfrm>
          <a:prstGeom prst="ellipse">
            <a:avLst/>
          </a:prstGeom>
          <a:solidFill>
            <a:srgbClr val="F2C24B"/>
          </a:solidFill>
          <a:ln/>
        </p:spPr>
      </p:sp>
      <p:sp>
        <p:nvSpPr>
          <p:cNvPr id="31" name="Shape 29"/>
          <p:cNvSpPr/>
          <p:nvPr/>
        </p:nvSpPr>
        <p:spPr>
          <a:xfrm>
            <a:off x="6876288" y="4215384"/>
            <a:ext cx="109728" cy="109728"/>
          </a:xfrm>
          <a:prstGeom prst="ellipse">
            <a:avLst/>
          </a:prstGeom>
          <a:solidFill>
            <a:srgbClr val="3EC96E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417880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73952" y="4453128"/>
            <a:ext cx="5111496" cy="0"/>
          </a:xfrm>
          <a:prstGeom prst="line">
            <a:avLst/>
          </a:prstGeom>
          <a:noFill/>
          <a:ln w="12700">
            <a:solidFill>
              <a:srgbClr val="2A31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4581144"/>
            <a:ext cx="498348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= 1;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09360" y="4069080"/>
            <a:ext cx="54864" cy="2331720"/>
          </a:xfrm>
          <a:prstGeom prst="roundRect">
            <a:avLst/>
          </a:prstGeom>
          <a:solidFill>
            <a:srgbClr val="17B89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— Data Manipulation Language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47472"/>
            <a:ext cx="685800" cy="685800"/>
          </a:xfrm>
          <a:prstGeom prst="ellipse">
            <a:avLst/>
          </a:prstGeom>
          <a:solidFill>
            <a:srgbClr val="F966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474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 — Transaction Control Language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that manage the effect of DML changes within a transaction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8308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9665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63240" y="1783080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saves all changes made in the current transaction.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346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9665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34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63240" y="2834640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Undoes changes made in the current transaction, back to the last commit or savepoint.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8862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9665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86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SAVEPOINT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063240" y="3886200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 point inside a transaction that you can later roll back to.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93776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9665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937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TRANSACTION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063240" y="4937760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properties for a transaction, such as its isolation level.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— Transaction Control Language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 — Example Queries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using SAVEPOINT, ROLLBACK, and COMMIT together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709160"/>
          </a:xfrm>
          <a:prstGeom prst="roundRect">
            <a:avLst>
              <a:gd name="adj" fmla="val 1748"/>
            </a:avLst>
          </a:prstGeom>
          <a:solidFill>
            <a:srgbClr val="10163A"/>
          </a:solidFill>
          <a:ln/>
          <a:effectLst>
            <a:outerShdw sx="100000" sy="100000" kx="0" ky="0" algn="bl" rotWithShape="0" blurRad="101600" dist="38100" dir="5400000">
              <a:srgbClr val="0A0E2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63624"/>
            <a:ext cx="109728" cy="109728"/>
          </a:xfrm>
          <a:prstGeom prst="ellipse">
            <a:avLst/>
          </a:prstGeom>
          <a:solidFill>
            <a:srgbClr val="F2665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563624"/>
            <a:ext cx="109728" cy="109728"/>
          </a:xfrm>
          <a:prstGeom prst="ellipse">
            <a:avLst/>
          </a:prstGeom>
          <a:solidFill>
            <a:srgbClr val="F2C24B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563624"/>
            <a:ext cx="109728" cy="109728"/>
          </a:xfrm>
          <a:prstGeom prst="ellipse">
            <a:avLst/>
          </a:prstGeom>
          <a:solidFill>
            <a:srgbClr val="3EC96E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527048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transaction.sql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1801368"/>
            <a:ext cx="10735056" cy="0"/>
          </a:xfrm>
          <a:prstGeom prst="line">
            <a:avLst/>
          </a:prstGeom>
          <a:noFill/>
          <a:ln w="12700">
            <a:solidFill>
              <a:srgbClr val="2A31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929384"/>
            <a:ext cx="1060704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SET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F2C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22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= 1;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SAVEPOINT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before_delete;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= 2;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A8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changed my mind about the delete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 TO </a:t>
            </a:r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before_delete;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E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A8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keep the age update, discard nothing else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417320"/>
            <a:ext cx="54864" cy="4709160"/>
          </a:xfrm>
          <a:prstGeom prst="roundRect">
            <a:avLst/>
          </a:prstGeom>
          <a:solidFill>
            <a:srgbClr val="F9665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— Transaction Control Language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DDL, DML, and TCL side by side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8728" cy="548640"/>
          </a:xfrm>
          <a:prstGeom prst="roundRect">
            <a:avLst>
              <a:gd name="adj" fmla="val 13333"/>
            </a:avLst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538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325112" y="1600200"/>
            <a:ext cx="3538728" cy="548640"/>
          </a:xfrm>
          <a:prstGeom prst="roundRect">
            <a:avLst>
              <a:gd name="adj" fmla="val 13333"/>
            </a:avLst>
          </a:prstGeom>
          <a:solidFill>
            <a:srgbClr val="17B890"/>
          </a:solidFill>
          <a:ln/>
        </p:spPr>
      </p:sp>
      <p:sp>
        <p:nvSpPr>
          <p:cNvPr id="7" name="Text 5"/>
          <p:cNvSpPr/>
          <p:nvPr/>
        </p:nvSpPr>
        <p:spPr>
          <a:xfrm>
            <a:off x="4325112" y="1600200"/>
            <a:ext cx="3538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101584" y="1600200"/>
            <a:ext cx="3538728" cy="548640"/>
          </a:xfrm>
          <a:prstGeom prst="roundRect">
            <a:avLst>
              <a:gd name="adj" fmla="val 13333"/>
            </a:avLst>
          </a:prstGeom>
          <a:solidFill>
            <a:srgbClr val="F9665E"/>
          </a:solidFill>
          <a:ln/>
        </p:spPr>
      </p:sp>
      <p:sp>
        <p:nvSpPr>
          <p:cNvPr id="9" name="Text 7"/>
          <p:cNvSpPr/>
          <p:nvPr/>
        </p:nvSpPr>
        <p:spPr>
          <a:xfrm>
            <a:off x="8101584" y="1600200"/>
            <a:ext cx="3538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1061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779776"/>
            <a:ext cx="10853928" cy="676656"/>
          </a:xfrm>
          <a:prstGeom prst="rect">
            <a:avLst/>
          </a:prstGeom>
          <a:solidFill>
            <a:srgbClr val="EAEEF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79776"/>
            <a:ext cx="3264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62272" y="2779776"/>
            <a:ext cx="3264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rows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38744" y="2779776"/>
            <a:ext cx="3264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3547872"/>
            <a:ext cx="1061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Auto-commit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58768"/>
            <a:ext cx="10853928" cy="676656"/>
          </a:xfrm>
          <a:prstGeom prst="rect">
            <a:avLst/>
          </a:prstGeom>
          <a:solidFill>
            <a:srgbClr val="EAEEF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58768"/>
            <a:ext cx="3264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always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62272" y="3858768"/>
            <a:ext cx="3264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mode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38744" y="3858768"/>
            <a:ext cx="3264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626864"/>
            <a:ext cx="1061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rolled back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0853928" cy="676656"/>
          </a:xfrm>
          <a:prstGeom prst="rect">
            <a:avLst/>
          </a:prstGeom>
          <a:solidFill>
            <a:srgbClr val="EAEEF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937760"/>
            <a:ext cx="3264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(usually)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62272" y="4937760"/>
            <a:ext cx="3264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38744" y="4937760"/>
            <a:ext cx="3264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it IS rollback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705856"/>
            <a:ext cx="1061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commands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016752"/>
            <a:ext cx="10853928" cy="676656"/>
          </a:xfrm>
          <a:prstGeom prst="rect">
            <a:avLst/>
          </a:prstGeom>
          <a:solidFill>
            <a:srgbClr val="EAEEF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6016752"/>
            <a:ext cx="3264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ALTER, DROP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62272" y="6016752"/>
            <a:ext cx="3264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UPDATE, DELETE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38744" y="6016752"/>
            <a:ext cx="3264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COMMIT, ROLLBACK, SAVEPOINT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Commands Overview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2026-09-15T04:51:49Z</dcterms:created>
  <dcterms:modified xsi:type="dcterms:W3CDTF">2026-09-15T04:51:49Z</dcterms:modified>
</cp:coreProperties>
</file>